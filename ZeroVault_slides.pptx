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ZeroVault: a stateless pass-through gateway. Keys live only on the phones; the server can be seized, imaged or hacked and there is nothing to take.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pain: credential sprawl, vaults as honeypots, and no per-device blast-radius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flow left to right: device authenticates with a certificate, gateway verifies and forwards, provider sees a normal request.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roster slide: nine major labs, five China-based providers with international endpoints, five specialized APIs for embeddings and image work. Each was verified against live provider docs, and stale APIs were deliberately left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differentiator: most gateways are credential honeypots. ZeroVault removes the honeypot entirely.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SECURITY.md documents the threat model, all 11 findings and the residual risks — hand it to their security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Integration cost is near zero: baseURL swap plus installing the device certificate at enrollment.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Runs on anything from a mini-PC to a cloud edge. ~150 lines of auditable code per implementation.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positioning: the big gateways solve a different problem and store credentials by design. ZeroVault is the minimal, auditable option — and can front those tools if features are needed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speed-to-value: PKI script, one compose command, one baseURL change. Offer a pilot on a single device fleet.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1.png"/><Relationship Id="rId5" Type="http://schemas.openxmlformats.org/officeDocument/2006/relationships/image" Target="../media/image-5-5.png"/><Relationship Id="rId6" Type="http://schemas.openxmlformats.org/officeDocument/2006/relationships/image" Target="../media/image-5-5.png"/><Relationship Id="rId7" Type="http://schemas.openxmlformats.org/officeDocument/2006/relationships/image" Target="../media/image-5-5.png"/><Relationship Id="rId8" Type="http://schemas.openxmlformats.org/officeDocument/2006/relationships/image" Target="../media/image-5-5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77724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" name="Image 0" descr="icons/shield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10" y="991210"/>
            <a:ext cx="395021" cy="39502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7240" y="214884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ZeroVault</a:t>
            </a:r>
            <a:endParaRPr lang="en-US" sz="6000" dirty="0"/>
          </a:p>
        </p:txBody>
      </p:sp>
      <p:sp>
        <p:nvSpPr>
          <p:cNvPr id="5" name="Text 2"/>
          <p:cNvSpPr txBox="1"/>
          <p:nvPr/>
        </p:nvSpPr>
        <p:spPr>
          <a:xfrm>
            <a:off x="795528" y="32461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gateway with nothing to steal.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795528" y="40690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secure door between your AI/mobile agent fleet and 21 AI providers — from Anthropic, OpenAI and Gemini to Qwen, YandexGPT and GigaChat — with zero credentials stored on the server.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95528" y="5394960"/>
            <a:ext cx="2697480" cy="566928"/>
          </a:xfrm>
          <a:prstGeom prst="roundRect">
            <a:avLst>
              <a:gd name="adj" fmla="val 50000"/>
            </a:avLst>
          </a:prstGeom>
          <a:solidFill>
            <a:srgbClr val="283472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95528" y="539496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mTLS device identity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675888" y="5394960"/>
            <a:ext cx="2697480" cy="566928"/>
          </a:xfrm>
          <a:prstGeom prst="roundRect">
            <a:avLst>
              <a:gd name="adj" fmla="val 50000"/>
            </a:avLst>
          </a:prstGeom>
          <a:solidFill>
            <a:srgbClr val="283472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675888" y="539496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credentials at rest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556248" y="5394960"/>
            <a:ext cx="2697480" cy="566928"/>
          </a:xfrm>
          <a:prstGeom prst="roundRect">
            <a:avLst>
              <a:gd name="adj" fmla="val 50000"/>
            </a:avLst>
          </a:prstGeom>
          <a:solidFill>
            <a:srgbClr val="283472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56248" y="539496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 in real time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API key you copy to a server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a breach waiting to happen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2148840"/>
            <a:ext cx="713232" cy="713232"/>
          </a:xfrm>
          <a:prstGeom prst="ellipse">
            <a:avLst/>
          </a:prstGeom>
          <a:solidFill>
            <a:srgbClr val="FDECEC"/>
          </a:solidFill>
          <a:ln/>
        </p:spPr>
      </p:sp>
      <p:pic>
        <p:nvPicPr>
          <p:cNvPr id="4" name="Image 0" descr="icons/key-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960" y="2334280"/>
            <a:ext cx="342351" cy="34235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783080" y="2130552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sprawl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783080" y="2532888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keys get pasted into servers, CI configs and gateway databases. Each copy is a new place to be breached — and mobile apps make it worse by shipping keys inside the binary.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731520" y="3566160"/>
            <a:ext cx="713232" cy="713232"/>
          </a:xfrm>
          <a:prstGeom prst="ellipse">
            <a:avLst/>
          </a:prstGeom>
          <a:solidFill>
            <a:srgbClr val="FDECEC"/>
          </a:solidFill>
          <a:ln/>
        </p:spPr>
      </p:sp>
      <p:pic>
        <p:nvPicPr>
          <p:cNvPr id="8" name="Image 1" descr="icons/database-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960" y="3751600"/>
            <a:ext cx="342351" cy="342351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783080" y="3547872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Gateways hoard credentials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783080" y="3950208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AI gateways centralize every key in their own vault and database. That vault becomes the single most valuable target on your network.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731520" y="4983480"/>
            <a:ext cx="713232" cy="713232"/>
          </a:xfrm>
          <a:prstGeom prst="ellipse">
            <a:avLst/>
          </a:prstGeom>
          <a:solidFill>
            <a:srgbClr val="FDECEC"/>
          </a:solidFill>
          <a:ln/>
        </p:spPr>
      </p:sp>
      <p:pic>
        <p:nvPicPr>
          <p:cNvPr id="12" name="Image 2" descr="icons/phone-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960" y="5168920"/>
            <a:ext cx="342351" cy="342351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783080" y="4965192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lost phone is a master key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1783080" y="5367528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per-device identity, one leaked credential means rotating keys for the whole fleet — downtime for everyone because of one device.</a:t>
            </a:r>
            <a:endParaRPr lang="en-US" sz="1350" dirty="0"/>
          </a:p>
        </p:txBody>
      </p:sp>
      <p:sp>
        <p:nvSpPr>
          <p:cNvPr id="15" name="Text 10"/>
          <p:cNvSpPr txBox="1"/>
          <p:nvPr/>
        </p:nvSpPr>
        <p:spPr>
          <a:xfrm>
            <a:off x="10149840" y="64739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ZeroVault  ·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Keys stay on the device. The gateway just routes.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request carries its own credential over a mutually-authenticated channel — ZeroVault verifies the device, forwards verbatim, remembers nothing.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2697480"/>
            <a:ext cx="2468880" cy="2286000"/>
          </a:xfrm>
          <a:prstGeom prst="roundRect">
            <a:avLst>
              <a:gd name="adj" fmla="val 4800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0200" y="29718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icons/phone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0395" y="3161995"/>
            <a:ext cx="351130" cy="35113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3886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AI/Mobile agent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251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device cert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provider keys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37560" y="3675888"/>
            <a:ext cx="1554480" cy="384048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20040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mTLS · TLS 1.3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029200" y="2697480"/>
            <a:ext cx="2651760" cy="2286000"/>
          </a:xfrm>
          <a:prstGeom prst="roundRect">
            <a:avLst>
              <a:gd name="adj" fmla="val 4800"/>
            </a:avLst>
          </a:prstGeom>
          <a:solidFill>
            <a:srgbClr val="1E2761"/>
          </a:solidFill>
          <a:ln/>
        </p:spPr>
      </p:sp>
      <p:sp>
        <p:nvSpPr>
          <p:cNvPr id="12" name="Shape 9"/>
          <p:cNvSpPr/>
          <p:nvPr/>
        </p:nvSpPr>
        <p:spPr>
          <a:xfrm>
            <a:off x="5989320" y="297180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3" name="Image 1" descr="icons/shield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9515" y="3161995"/>
            <a:ext cx="351130" cy="35113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120640" y="3886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ZeroVault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5120640" y="42519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· no content,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credentials — ever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818120" y="2944368"/>
            <a:ext cx="868680" cy="292608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7" name="Shape 13"/>
          <p:cNvSpPr/>
          <p:nvPr/>
        </p:nvSpPr>
        <p:spPr>
          <a:xfrm>
            <a:off x="8778240" y="2633472"/>
            <a:ext cx="2743200" cy="932688"/>
          </a:xfrm>
          <a:prstGeom prst="roundRect">
            <a:avLst>
              <a:gd name="adj" fmla="val 9804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778240" y="27249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labs (9)</a:t>
            </a:r>
            <a:endParaRPr lang="en-US" sz="1250" dirty="0"/>
          </a:p>
        </p:txBody>
      </p:sp>
      <p:sp>
        <p:nvSpPr>
          <p:cNvPr id="19" name="Text 15"/>
          <p:cNvSpPr txBox="1"/>
          <p:nvPr/>
        </p:nvSpPr>
        <p:spPr>
          <a:xfrm>
            <a:off x="8778240" y="3017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· Anthropic · Gemini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· Cohere · DeepSeek +3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7818120" y="4059936"/>
            <a:ext cx="868680" cy="292608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21" name="Shape 17"/>
          <p:cNvSpPr/>
          <p:nvPr/>
        </p:nvSpPr>
        <p:spPr>
          <a:xfrm>
            <a:off x="8778240" y="3749040"/>
            <a:ext cx="2743200" cy="932688"/>
          </a:xfrm>
          <a:prstGeom prst="roundRect">
            <a:avLst>
              <a:gd name="adj" fmla="val 9804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8778240" y="38404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&amp; Russia (7)</a:t>
            </a:r>
            <a:endParaRPr lang="en-US" sz="1250" dirty="0"/>
          </a:p>
        </p:txBody>
      </p:sp>
      <p:sp>
        <p:nvSpPr>
          <p:cNvPr id="23" name="Text 19"/>
          <p:cNvSpPr txBox="1"/>
          <p:nvPr/>
        </p:nvSpPr>
        <p:spPr>
          <a:xfrm>
            <a:off x="8778240" y="413308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· Kimi · GLM · Z.AI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SiliconFlow · YandexGPT · GigaChat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7818120" y="5175504"/>
            <a:ext cx="868680" cy="292608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25" name="Shape 21"/>
          <p:cNvSpPr/>
          <p:nvPr/>
        </p:nvSpPr>
        <p:spPr>
          <a:xfrm>
            <a:off x="8778240" y="4864608"/>
            <a:ext cx="2743200" cy="932688"/>
          </a:xfrm>
          <a:prstGeom prst="roundRect">
            <a:avLst>
              <a:gd name="adj" fmla="val 9804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8778240" y="49560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&amp; image (5)</a:t>
            </a:r>
            <a:endParaRPr lang="en-US" sz="1250" dirty="0"/>
          </a:p>
        </p:txBody>
      </p:sp>
      <p:sp>
        <p:nvSpPr>
          <p:cNvPr id="27" name="Text 23"/>
          <p:cNvSpPr txBox="1"/>
          <p:nvPr/>
        </p:nvSpPr>
        <p:spPr>
          <a:xfrm>
            <a:off x="8778240" y="524865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Voyage · Jina · Nomic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Recraft · Upstage</a:t>
            </a:r>
            <a:endParaRPr lang="en-US" sz="900" dirty="0"/>
          </a:p>
        </p:txBody>
      </p:sp>
      <p:sp>
        <p:nvSpPr>
          <p:cNvPr id="28" name="Text 24"/>
          <p:cNvSpPr txBox="1"/>
          <p:nvPr/>
        </p:nvSpPr>
        <p:spPr>
          <a:xfrm>
            <a:off x="731520" y="5989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base-URL change in your app. Official SDKs, streaming responses and request formats work exactly as before.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10149840" y="64739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ZeroVault  ·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providers. One certificate. One URL.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route verified against the provider’s live API documentation — auth schemes and paths pass through exactly as each provider documents them.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3474720" cy="3977640"/>
          </a:xfrm>
          <a:prstGeom prst="roundRect">
            <a:avLst>
              <a:gd name="adj" fmla="val 3684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2194560"/>
            <a:ext cx="603504" cy="60350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icons/globe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4463" y="2351471"/>
            <a:ext cx="289682" cy="28968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19072" y="22128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model labs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719072" y="25420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Chat, reasoning &amp; image generation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1051560" y="3017520"/>
            <a:ext cx="2926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2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2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12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AI</a:t>
            </a:r>
            <a:endParaRPr lang="en-US" sz="12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</a:t>
            </a:r>
            <a:endParaRPr lang="en-US" sz="12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</a:t>
            </a:r>
            <a:endParaRPr lang="en-US" sz="12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AI21 Labs</a:t>
            </a:r>
            <a:endParaRPr lang="en-US" sz="12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</a:t>
            </a:r>
            <a:endParaRPr lang="en-US" sz="12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AI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34840" y="1965960"/>
            <a:ext cx="3474720" cy="3977640"/>
          </a:xfrm>
          <a:prstGeom prst="roundRect">
            <a:avLst>
              <a:gd name="adj" fmla="val 3684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90872" y="2194560"/>
            <a:ext cx="603504" cy="60350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2" name="Image 1" descr="icons/wifi-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7783" y="2351471"/>
            <a:ext cx="289682" cy="28968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422392" y="22128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&amp; Russia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5422392" y="25420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&amp; international endpoints</a:t>
            </a:r>
            <a:endParaRPr lang="en-US" sz="950" dirty="0"/>
          </a:p>
        </p:txBody>
      </p:sp>
      <p:sp>
        <p:nvSpPr>
          <p:cNvPr id="15" name="Text 11"/>
          <p:cNvSpPr txBox="1"/>
          <p:nvPr/>
        </p:nvSpPr>
        <p:spPr>
          <a:xfrm>
            <a:off x="4754880" y="3017520"/>
            <a:ext cx="2926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Alibaba Qwen (DashScope)</a:t>
            </a:r>
            <a:endParaRPr lang="en-US" sz="12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Moonshot AI (Kimi)</a:t>
            </a:r>
            <a:endParaRPr lang="en-US" sz="12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Zhipu AI (GLM)</a:t>
            </a:r>
            <a:endParaRPr lang="en-US" sz="12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Z.AI</a:t>
            </a:r>
            <a:endParaRPr lang="en-US" sz="12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SiliconFlow</a:t>
            </a:r>
            <a:endParaRPr lang="en-US" sz="12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YandexGPT (Yandex AI Studio)</a:t>
            </a:r>
            <a:endParaRPr lang="en-US" sz="12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GigaChat (Sber)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138160" y="1965960"/>
            <a:ext cx="3474720" cy="3977640"/>
          </a:xfrm>
          <a:prstGeom prst="roundRect">
            <a:avLst>
              <a:gd name="adj" fmla="val 3684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394192" y="2194560"/>
            <a:ext cx="603504" cy="60350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8" name="Image 2" descr="icons/activity-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1103" y="2351471"/>
            <a:ext cx="289682" cy="28968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125712" y="22128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&amp; specialized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9125712" y="25420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RAG &amp; design pipelines</a:t>
            </a:r>
            <a:endParaRPr lang="en-US" sz="950" dirty="0"/>
          </a:p>
        </p:txBody>
      </p:sp>
      <p:sp>
        <p:nvSpPr>
          <p:cNvPr id="21" name="Text 16"/>
          <p:cNvSpPr txBox="1"/>
          <p:nvPr/>
        </p:nvSpPr>
        <p:spPr>
          <a:xfrm>
            <a:off x="8458200" y="3017520"/>
            <a:ext cx="2926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Voyage AI (embeddings)</a:t>
            </a:r>
            <a:endParaRPr lang="en-US" sz="12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Jina AI (embeddings)</a:t>
            </a:r>
            <a:endParaRPr lang="en-US" sz="12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Nomic (embeddings)</a:t>
            </a:r>
            <a:endParaRPr lang="en-US" sz="12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Recraft (image)</a:t>
            </a:r>
            <a:endParaRPr lang="en-US" sz="12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Upstage (Solar)</a:t>
            </a:r>
            <a:endParaRPr lang="en-US" sz="1250" dirty="0"/>
          </a:p>
        </p:txBody>
      </p:sp>
      <p:sp>
        <p:nvSpPr>
          <p:cNvPr id="22" name="Text 17"/>
          <p:cNvSpPr txBox="1"/>
          <p:nvPr/>
        </p:nvSpPr>
        <p:spPr>
          <a:xfrm>
            <a:off x="731520" y="617220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Deprecated APIs excluded by design (Google PaLM, 01.AI). Need another provider? One config line adds it — the gateway stays a closed allowlist.</a:t>
            </a:r>
            <a:endParaRPr lang="en-US" sz="1250" dirty="0"/>
          </a:p>
        </p:txBody>
      </p:sp>
      <p:sp>
        <p:nvSpPr>
          <p:cNvPr id="23" name="Text 18"/>
          <p:cNvSpPr txBox="1"/>
          <p:nvPr/>
        </p:nvSpPr>
        <p:spPr>
          <a:xfrm>
            <a:off x="10149840" y="64739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ZeroVault  ·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at rest means nothing to breach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5166360" cy="4297680"/>
          </a:xfrm>
          <a:prstGeom prst="roundRect">
            <a:avLst>
              <a:gd name="adj" fmla="val 2979"/>
            </a:avLst>
          </a:prstGeom>
          <a:solidFill>
            <a:srgbClr val="F4F7F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51560" y="182880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AI gateway</a:t>
            </a:r>
            <a:endParaRPr lang="en-US" sz="1800" dirty="0"/>
          </a:p>
        </p:txBody>
      </p:sp>
      <p:pic>
        <p:nvPicPr>
          <p:cNvPr id="5" name="Image 0" descr="icons/x-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542032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251460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keys stored in its vault and database</a:t>
            </a:r>
            <a:endParaRPr lang="en-US" sz="1350" dirty="0"/>
          </a:p>
        </p:txBody>
      </p:sp>
      <p:pic>
        <p:nvPicPr>
          <p:cNvPr id="7" name="Image 1" descr="icons/x-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33467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3319272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its own “virtual keys” — more secrets to manage</a:t>
            </a:r>
            <a:endParaRPr lang="en-US" sz="1350" dirty="0"/>
          </a:p>
        </p:txBody>
      </p:sp>
      <p:pic>
        <p:nvPicPr>
          <p:cNvPr id="9" name="Image 2" descr="icons/x-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4151376"/>
            <a:ext cx="274320" cy="27432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463040" y="4123944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breach exposes every customer key at once</a:t>
            </a:r>
            <a:endParaRPr lang="en-US" sz="1350" dirty="0"/>
          </a:p>
        </p:txBody>
      </p:sp>
      <p:pic>
        <p:nvPicPr>
          <p:cNvPr id="11" name="Image 3" descr="icons/x-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956048"/>
            <a:ext cx="274320" cy="27432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463040" y="4928616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rotation is an org-wide fire drill</a:t>
            </a:r>
            <a:endParaRPr lang="en-US" sz="1350" dirty="0"/>
          </a:p>
        </p:txBody>
      </p:sp>
      <p:sp>
        <p:nvSpPr>
          <p:cNvPr id="13" name="Shape 7"/>
          <p:cNvSpPr/>
          <p:nvPr/>
        </p:nvSpPr>
        <p:spPr>
          <a:xfrm>
            <a:off x="6263640" y="1554480"/>
            <a:ext cx="5166360" cy="4297680"/>
          </a:xfrm>
          <a:prstGeom prst="roundRect">
            <a:avLst>
              <a:gd name="adj" fmla="val 2979"/>
            </a:avLst>
          </a:prstGeom>
          <a:solidFill>
            <a:srgbClr val="1E2761"/>
          </a:solidFill>
          <a:ln/>
        </p:spPr>
      </p:sp>
      <p:sp>
        <p:nvSpPr>
          <p:cNvPr id="14" name="Text 8"/>
          <p:cNvSpPr txBox="1"/>
          <p:nvPr/>
        </p:nvSpPr>
        <p:spPr>
          <a:xfrm>
            <a:off x="6583680" y="182880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ZeroVault</a:t>
            </a:r>
            <a:endParaRPr lang="en-US" sz="1800" dirty="0"/>
          </a:p>
        </p:txBody>
      </p:sp>
      <p:pic>
        <p:nvPicPr>
          <p:cNvPr id="15" name="Image 4" descr="icons/check-mi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2542032"/>
            <a:ext cx="274320" cy="27432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6995160" y="251460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credentials at rest — keys transit in memory only</a:t>
            </a:r>
            <a:endParaRPr lang="en-US" sz="1350" dirty="0"/>
          </a:p>
        </p:txBody>
      </p:sp>
      <p:pic>
        <p:nvPicPr>
          <p:cNvPr id="17" name="Image 5" descr="icons/check-min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3346704"/>
            <a:ext cx="274320" cy="274320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6995160" y="3319272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authenticate with certificates, not shared secrets</a:t>
            </a:r>
            <a:endParaRPr lang="en-US" sz="1350" dirty="0"/>
          </a:p>
        </p:txBody>
      </p:sp>
      <p:pic>
        <p:nvPicPr>
          <p:cNvPr id="19" name="Image 6" descr="icons/check-min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0" y="4151376"/>
            <a:ext cx="274320" cy="274320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6995160" y="4123944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seized or hacked server yields nothing usable</a:t>
            </a:r>
            <a:endParaRPr lang="en-US" sz="1350" dirty="0"/>
          </a:p>
        </p:txBody>
      </p:sp>
      <p:pic>
        <p:nvPicPr>
          <p:cNvPr id="21" name="Image 7" descr="icons/check-min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0" y="4956048"/>
            <a:ext cx="274320" cy="274320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6995160" y="4928616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 a phone? Revoke one certificate. Everyone else keeps working</a:t>
            </a:r>
            <a:endParaRPr lang="en-US" sz="1350" dirty="0"/>
          </a:p>
        </p:txBody>
      </p:sp>
      <p:sp>
        <p:nvSpPr>
          <p:cNvPr id="23" name="Text 13"/>
          <p:cNvSpPr txBox="1"/>
          <p:nvPr/>
        </p:nvSpPr>
        <p:spPr>
          <a:xfrm>
            <a:off x="10149840" y="64739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ZeroVault  ·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you can read, not just trust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Audited line by line — 11 findings identified, fixed and re-tested. The full audit report ships with the product.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202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834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at rest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389120" y="19202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4389120" y="2834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findings fixed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046720" y="19202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365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8046720" y="2834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cert auto-expiry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520440"/>
            <a:ext cx="5212080" cy="1188720"/>
          </a:xfrm>
          <a:prstGeom prst="roundRect">
            <a:avLst>
              <a:gd name="adj" fmla="val 9231"/>
            </a:avLst>
          </a:prstGeom>
          <a:solidFill>
            <a:srgbClr val="283472"/>
          </a:solidFill>
          <a:ln/>
        </p:spPr>
      </p:sp>
      <p:sp>
        <p:nvSpPr>
          <p:cNvPr id="11" name="Shape 9"/>
          <p:cNvSpPr/>
          <p:nvPr/>
        </p:nvSpPr>
        <p:spPr>
          <a:xfrm>
            <a:off x="960120" y="3767328"/>
            <a:ext cx="658368" cy="658368"/>
          </a:xfrm>
          <a:prstGeom prst="ellipse">
            <a:avLst/>
          </a:prstGeom>
          <a:solidFill>
            <a:srgbClr val="16305F"/>
          </a:solidFill>
          <a:ln/>
        </p:spPr>
      </p:sp>
      <p:pic>
        <p:nvPicPr>
          <p:cNvPr id="12" name="Image 0" descr="icons/lock-m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1296" y="3938504"/>
            <a:ext cx="316017" cy="316017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828800" y="36850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secrecy</a:t>
            </a:r>
            <a:endParaRPr lang="en-US" sz="1450" dirty="0"/>
          </a:p>
        </p:txBody>
      </p:sp>
      <p:sp>
        <p:nvSpPr>
          <p:cNvPr id="14" name="Text 11"/>
          <p:cNvSpPr txBox="1"/>
          <p:nvPr/>
        </p:nvSpPr>
        <p:spPr>
          <a:xfrm>
            <a:off x="1828800" y="4032504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1.3, AEAD-only ciphers. Recorded traffic can never be decrypted later.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263640" y="3520440"/>
            <a:ext cx="5212080" cy="1188720"/>
          </a:xfrm>
          <a:prstGeom prst="roundRect">
            <a:avLst>
              <a:gd name="adj" fmla="val 9231"/>
            </a:avLst>
          </a:prstGeom>
          <a:solidFill>
            <a:srgbClr val="283472"/>
          </a:solidFill>
          <a:ln/>
        </p:spPr>
      </p:sp>
      <p:sp>
        <p:nvSpPr>
          <p:cNvPr id="16" name="Shape 13"/>
          <p:cNvSpPr/>
          <p:nvPr/>
        </p:nvSpPr>
        <p:spPr>
          <a:xfrm>
            <a:off x="6492240" y="3767328"/>
            <a:ext cx="658368" cy="658368"/>
          </a:xfrm>
          <a:prstGeom prst="ellipse">
            <a:avLst/>
          </a:prstGeom>
          <a:solidFill>
            <a:srgbClr val="16305F"/>
          </a:solidFill>
          <a:ln/>
        </p:spPr>
      </p:sp>
      <p:pic>
        <p:nvPicPr>
          <p:cNvPr id="17" name="Image 1" descr="icons/refresh-mi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3416" y="3938504"/>
            <a:ext cx="316017" cy="316017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7360920" y="36850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revocation</a:t>
            </a:r>
            <a:endParaRPr lang="en-US" sz="1450" dirty="0"/>
          </a:p>
        </p:txBody>
      </p:sp>
      <p:sp>
        <p:nvSpPr>
          <p:cNvPr id="19" name="Text 15"/>
          <p:cNvSpPr txBox="1"/>
          <p:nvPr/>
        </p:nvSpPr>
        <p:spPr>
          <a:xfrm>
            <a:off x="7360920" y="4032504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CRL plus per-device allowlist: cut off a lost phone in seconds.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731520" y="4892040"/>
            <a:ext cx="5212080" cy="1188720"/>
          </a:xfrm>
          <a:prstGeom prst="roundRect">
            <a:avLst>
              <a:gd name="adj" fmla="val 9231"/>
            </a:avLst>
          </a:prstGeom>
          <a:solidFill>
            <a:srgbClr val="283472"/>
          </a:solidFill>
          <a:ln/>
        </p:spPr>
      </p:sp>
      <p:sp>
        <p:nvSpPr>
          <p:cNvPr id="21" name="Shape 17"/>
          <p:cNvSpPr/>
          <p:nvPr/>
        </p:nvSpPr>
        <p:spPr>
          <a:xfrm>
            <a:off x="960120" y="5138928"/>
            <a:ext cx="658368" cy="658368"/>
          </a:xfrm>
          <a:prstGeom prst="ellipse">
            <a:avLst/>
          </a:prstGeom>
          <a:solidFill>
            <a:srgbClr val="16305F"/>
          </a:solidFill>
          <a:ln/>
        </p:spPr>
      </p:sp>
      <p:pic>
        <p:nvPicPr>
          <p:cNvPr id="22" name="Image 2" descr="icons/sliders-m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296" y="5310104"/>
            <a:ext cx="316017" cy="316017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828800" y="50566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Abuse containment</a:t>
            </a:r>
            <a:endParaRPr lang="en-US" sz="1450" dirty="0"/>
          </a:p>
        </p:txBody>
      </p:sp>
      <p:sp>
        <p:nvSpPr>
          <p:cNvPr id="24" name="Text 19"/>
          <p:cNvSpPr txBox="1"/>
          <p:nvPr/>
        </p:nvSpPr>
        <p:spPr>
          <a:xfrm>
            <a:off x="1828800" y="5404104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Per-device rate limits and body caps bound what a stolen cert can do.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6263640" y="4892040"/>
            <a:ext cx="5212080" cy="1188720"/>
          </a:xfrm>
          <a:prstGeom prst="roundRect">
            <a:avLst>
              <a:gd name="adj" fmla="val 9231"/>
            </a:avLst>
          </a:prstGeom>
          <a:solidFill>
            <a:srgbClr val="283472"/>
          </a:solidFill>
          <a:ln/>
        </p:spPr>
      </p:sp>
      <p:sp>
        <p:nvSpPr>
          <p:cNvPr id="26" name="Shape 21"/>
          <p:cNvSpPr/>
          <p:nvPr/>
        </p:nvSpPr>
        <p:spPr>
          <a:xfrm>
            <a:off x="6492240" y="5138928"/>
            <a:ext cx="658368" cy="658368"/>
          </a:xfrm>
          <a:prstGeom prst="ellipse">
            <a:avLst/>
          </a:prstGeom>
          <a:solidFill>
            <a:srgbClr val="16305F"/>
          </a:solidFill>
          <a:ln/>
        </p:spPr>
      </p:sp>
      <p:pic>
        <p:nvPicPr>
          <p:cNvPr id="27" name="Image 3" descr="icons/eyeoff-mi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3416" y="5310104"/>
            <a:ext cx="316017" cy="316017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360920" y="50566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key logging</a:t>
            </a:r>
            <a:endParaRPr lang="en-US" sz="1450" dirty="0"/>
          </a:p>
        </p:txBody>
      </p:sp>
      <p:sp>
        <p:nvSpPr>
          <p:cNvPr id="29" name="Text 23"/>
          <p:cNvSpPr txBox="1"/>
          <p:nvPr/>
        </p:nvSpPr>
        <p:spPr>
          <a:xfrm>
            <a:off x="7360920" y="5404104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carry method, path, status, device — never headers, bodies or queries.</a:t>
            </a:r>
            <a:endParaRPr lang="en-US" sz="1150" dirty="0"/>
          </a:p>
        </p:txBody>
      </p:sp>
      <p:sp>
        <p:nvSpPr>
          <p:cNvPr id="30" name="Text 24"/>
          <p:cNvSpPr txBox="1"/>
          <p:nvPr/>
        </p:nvSpPr>
        <p:spPr>
          <a:xfrm>
            <a:off x="10149840" y="64739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ZeroVault  ·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Drop-in for the SDKs you already use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737360"/>
            <a:ext cx="5303520" cy="1828800"/>
          </a:xfrm>
          <a:prstGeom prst="roundRect">
            <a:avLst>
              <a:gd name="adj" fmla="val 6000"/>
            </a:avLst>
          </a:prstGeom>
          <a:solidFill>
            <a:srgbClr val="F4F7FD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" y="201168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5" name="Image 0" descr="icons/globe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4148" y="218998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20299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URL change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920240" y="242316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any provider’s official SDK at ZeroVault with its baseURL option. No request-building code changes.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355080" y="1737360"/>
            <a:ext cx="5303520" cy="1828800"/>
          </a:xfrm>
          <a:prstGeom prst="roundRect">
            <a:avLst>
              <a:gd name="adj" fmla="val 6000"/>
            </a:avLst>
          </a:prstGeom>
          <a:solidFill>
            <a:srgbClr val="F4F7FD"/>
          </a:solidFill>
          <a:ln/>
        </p:spPr>
      </p:sp>
      <p:sp>
        <p:nvSpPr>
          <p:cNvPr id="9" name="Shape 6"/>
          <p:cNvSpPr/>
          <p:nvPr/>
        </p:nvSpPr>
        <p:spPr>
          <a:xfrm>
            <a:off x="6629400" y="201168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0" name="Image 1" descr="icons/zap-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7708" y="218998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43800" y="20299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streaming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7543800" y="242316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Server-sent events pass through chunk by chunk — token-by-token responses feel identical to talking to the provider directly.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731520" y="3840480"/>
            <a:ext cx="5303520" cy="1828800"/>
          </a:xfrm>
          <a:prstGeom prst="roundRect">
            <a:avLst>
              <a:gd name="adj" fmla="val 6000"/>
            </a:avLst>
          </a:prstGeom>
          <a:solidFill>
            <a:srgbClr val="F4F7FD"/>
          </a:solidFill>
          <a:ln/>
        </p:spPr>
      </p:sp>
      <p:sp>
        <p:nvSpPr>
          <p:cNvPr id="14" name="Shape 10"/>
          <p:cNvSpPr/>
          <p:nvPr/>
        </p:nvSpPr>
        <p:spPr>
          <a:xfrm>
            <a:off x="1005840" y="411480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5" name="Image 2" descr="icons/key-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4148" y="429310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920240" y="41330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key handling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920240" y="452628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keep using x-api-key and Authorization exactly as the providers document. Keys live in the platform secure enclave, sent per request.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355080" y="3840480"/>
            <a:ext cx="5303520" cy="1828800"/>
          </a:xfrm>
          <a:prstGeom prst="roundRect">
            <a:avLst>
              <a:gd name="adj" fmla="val 6000"/>
            </a:avLst>
          </a:prstGeom>
          <a:solidFill>
            <a:srgbClr val="F4F7FD"/>
          </a:solidFill>
          <a:ln/>
        </p:spPr>
      </p:sp>
      <p:sp>
        <p:nvSpPr>
          <p:cNvPr id="19" name="Shape 14"/>
          <p:cNvSpPr/>
          <p:nvPr/>
        </p:nvSpPr>
        <p:spPr>
          <a:xfrm>
            <a:off x="6629400" y="411480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0" name="Image 3" descr="icons/package-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7708" y="4293108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543800" y="41330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providers built in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7543800" y="452628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labs, China-based models, embeddings and image APIs — verified against each provider’s live docs. Adding more is one config line; never an open proxy.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10149840" y="64739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ZeroVault  ·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stack, your infrastructure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interchangeable implementations, three hardened deployment paths — identical behavior everywhere.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202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runtime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423160"/>
            <a:ext cx="5212080" cy="1051560"/>
          </a:xfrm>
          <a:prstGeom prst="roundRect">
            <a:avLst>
              <a:gd name="adj" fmla="val 10435"/>
            </a:avLst>
          </a:prstGeom>
          <a:solidFill>
            <a:srgbClr val="F4F7FD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2606040"/>
            <a:ext cx="658368" cy="65836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0" descr="icons/terminal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1296" y="2777216"/>
            <a:ext cx="316017" cy="31601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828800" y="26060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828800" y="2971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dependencies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31520" y="3657600"/>
            <a:ext cx="5212080" cy="1051560"/>
          </a:xfrm>
          <a:prstGeom prst="roundRect">
            <a:avLst>
              <a:gd name="adj" fmla="val 10435"/>
            </a:avLst>
          </a:prstGeom>
          <a:solidFill>
            <a:srgbClr val="F4F7FD"/>
          </a:solidFill>
          <a:ln/>
        </p:spPr>
      </p:sp>
      <p:sp>
        <p:nvSpPr>
          <p:cNvPr id="11" name="Shape 8"/>
          <p:cNvSpPr/>
          <p:nvPr/>
        </p:nvSpPr>
        <p:spPr>
          <a:xfrm>
            <a:off x="960120" y="3840480"/>
            <a:ext cx="658368" cy="65836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2" name="Image 1" descr="icons/cpu-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296" y="4011656"/>
            <a:ext cx="316017" cy="31601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828800" y="3840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1828800" y="4206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static binary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31520" y="4892040"/>
            <a:ext cx="5212080" cy="1051560"/>
          </a:xfrm>
          <a:prstGeom prst="roundRect">
            <a:avLst>
              <a:gd name="adj" fmla="val 10435"/>
            </a:avLst>
          </a:prstGeom>
          <a:solidFill>
            <a:srgbClr val="F4F7FD"/>
          </a:solidFill>
          <a:ln/>
        </p:spPr>
      </p:sp>
      <p:sp>
        <p:nvSpPr>
          <p:cNvPr id="16" name="Shape 12"/>
          <p:cNvSpPr/>
          <p:nvPr/>
        </p:nvSpPr>
        <p:spPr>
          <a:xfrm>
            <a:off x="960120" y="5074920"/>
            <a:ext cx="658368" cy="65836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7" name="Image 2" descr="icons/filetext-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296" y="5246096"/>
            <a:ext cx="316017" cy="31601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828800" y="5074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1828800" y="54406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easy to extend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6263640" y="19202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home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6263640" y="2423160"/>
            <a:ext cx="5212080" cy="1051560"/>
          </a:xfrm>
          <a:prstGeom prst="roundRect">
            <a:avLst>
              <a:gd name="adj" fmla="val 10435"/>
            </a:avLst>
          </a:prstGeom>
          <a:solidFill>
            <a:srgbClr val="F4F7FD"/>
          </a:solidFill>
          <a:ln/>
        </p:spPr>
      </p:sp>
      <p:sp>
        <p:nvSpPr>
          <p:cNvPr id="22" name="Shape 17"/>
          <p:cNvSpPr/>
          <p:nvPr/>
        </p:nvSpPr>
        <p:spPr>
          <a:xfrm>
            <a:off x="6492240" y="2606040"/>
            <a:ext cx="658368" cy="65836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3" name="Image 3" descr="icons/box-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3416" y="2777216"/>
            <a:ext cx="316017" cy="316017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360920" y="26060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7360920" y="297180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locked-down containers: read-only, non-root, capability-free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6263640" y="3657600"/>
            <a:ext cx="5212080" cy="1051560"/>
          </a:xfrm>
          <a:prstGeom prst="roundRect">
            <a:avLst>
              <a:gd name="adj" fmla="val 10435"/>
            </a:avLst>
          </a:prstGeom>
          <a:solidFill>
            <a:srgbClr val="F4F7FD"/>
          </a:solidFill>
          <a:ln/>
        </p:spPr>
      </p:sp>
      <p:sp>
        <p:nvSpPr>
          <p:cNvPr id="27" name="Shape 21"/>
          <p:cNvSpPr/>
          <p:nvPr/>
        </p:nvSpPr>
        <p:spPr>
          <a:xfrm>
            <a:off x="6492240" y="3840480"/>
            <a:ext cx="658368" cy="65836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8" name="Image 4" descr="icons/server-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3416" y="4011656"/>
            <a:ext cx="316017" cy="316017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7360920" y="3840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 metal / VPS</a:t>
            </a:r>
            <a:endParaRPr lang="en-US" sz="1500" dirty="0"/>
          </a:p>
        </p:txBody>
      </p:sp>
      <p:sp>
        <p:nvSpPr>
          <p:cNvPr id="30" name="Text 23"/>
          <p:cNvSpPr txBox="1"/>
          <p:nvPr/>
        </p:nvSpPr>
        <p:spPr>
          <a:xfrm>
            <a:off x="7360920" y="420624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hardened systemd units with syscall filtering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6263640" y="4892040"/>
            <a:ext cx="5212080" cy="1051560"/>
          </a:xfrm>
          <a:prstGeom prst="roundRect">
            <a:avLst>
              <a:gd name="adj" fmla="val 10435"/>
            </a:avLst>
          </a:prstGeom>
          <a:solidFill>
            <a:srgbClr val="F4F7FD"/>
          </a:solidFill>
          <a:ln/>
        </p:spPr>
      </p:sp>
      <p:sp>
        <p:nvSpPr>
          <p:cNvPr id="32" name="Shape 25"/>
          <p:cNvSpPr/>
          <p:nvPr/>
        </p:nvSpPr>
        <p:spPr>
          <a:xfrm>
            <a:off x="6492240" y="5074920"/>
            <a:ext cx="658368" cy="65836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3" name="Image 5" descr="icons/cloud-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3416" y="5246096"/>
            <a:ext cx="316017" cy="316017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7360920" y="5074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edge</a:t>
            </a:r>
            <a:endParaRPr lang="en-US" sz="1500" dirty="0"/>
          </a:p>
        </p:txBody>
      </p:sp>
      <p:sp>
        <p:nvSpPr>
          <p:cNvPr id="35" name="Text 27"/>
          <p:cNvSpPr txBox="1"/>
          <p:nvPr/>
        </p:nvSpPr>
        <p:spPr>
          <a:xfrm>
            <a:off x="7360920" y="54406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Workers with certificate checks at the edge</a:t>
            </a:r>
            <a:endParaRPr lang="en-US" sz="1200" dirty="0"/>
          </a:p>
        </p:txBody>
      </p:sp>
      <p:sp>
        <p:nvSpPr>
          <p:cNvPr id="36" name="Text 28"/>
          <p:cNvSpPr txBox="1"/>
          <p:nvPr/>
        </p:nvSpPr>
        <p:spPr>
          <a:xfrm>
            <a:off x="10149840" y="64739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ZeroVault  ·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not just use a big AI gateway?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3474720" cy="3977640"/>
          </a:xfrm>
          <a:prstGeom prst="roundRect">
            <a:avLst>
              <a:gd name="adj" fmla="val 3684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19659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 / Portkey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377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Feature-rich platforms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88036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hold your keys: vaults, virtual keys, databases, admin UIs. Powerful — and a much larger attack surface to defend.</a:t>
            </a:r>
            <a:endParaRPr lang="en-US" sz="1250" dirty="0"/>
          </a:p>
        </p:txBody>
      </p:sp>
      <p:pic>
        <p:nvPicPr>
          <p:cNvPr id="7" name="Image 0" descr="icons/alert-sl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5074920"/>
            <a:ext cx="310896" cy="3108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434840" y="1645920"/>
            <a:ext cx="3474720" cy="3977640"/>
          </a:xfrm>
          <a:prstGeom prst="roundRect">
            <a:avLst>
              <a:gd name="adj" fmla="val 3684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709160" y="19659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 / APISIX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4709160" y="2377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gateways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709160" y="288036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mTLS, but Kubernetes-scale machinery. Weeks of platform work for what should be one small, boring service.</a:t>
            </a:r>
            <a:endParaRPr lang="en-US" sz="1250" dirty="0"/>
          </a:p>
        </p:txBody>
      </p:sp>
      <p:pic>
        <p:nvPicPr>
          <p:cNvPr id="12" name="Image 1" descr="icons/alert-sl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5074920"/>
            <a:ext cx="310896" cy="31089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8138160" y="1645920"/>
            <a:ext cx="3474720" cy="3977640"/>
          </a:xfrm>
          <a:prstGeom prst="roundRect">
            <a:avLst>
              <a:gd name="adj" fmla="val 3684"/>
            </a:avLst>
          </a:prstGeom>
          <a:solidFill>
            <a:srgbClr val="1E2761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412480" y="19659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ZeroVault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8412480" y="2377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8412480" y="288036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one thing: verified device in, untouched request out. Small enough for your team to read every line before trusting it.</a:t>
            </a:r>
            <a:endParaRPr lang="en-US" sz="1250" dirty="0"/>
          </a:p>
        </p:txBody>
      </p:sp>
      <p:pic>
        <p:nvPicPr>
          <p:cNvPr id="17" name="Image 2" descr="icons/check-m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5074920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3152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failover, caching or spend dashboards later? ZeroVault composes cleanly in front of any of them.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10149840" y="64739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ZeroVault  ·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73152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" name="Image 0" descr="icons/shield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435" y="921715"/>
            <a:ext cx="351130" cy="35113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7240" y="1783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in an afternoon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777240" y="2880360"/>
            <a:ext cx="3429000" cy="2148840"/>
          </a:xfrm>
          <a:prstGeom prst="roundRect">
            <a:avLst>
              <a:gd name="adj" fmla="val 5957"/>
            </a:avLst>
          </a:prstGeom>
          <a:solidFill>
            <a:srgbClr val="283472"/>
          </a:solidFill>
          <a:ln/>
        </p:spPr>
      </p:sp>
      <p:sp>
        <p:nvSpPr>
          <p:cNvPr id="6" name="Shape 3"/>
          <p:cNvSpPr/>
          <p:nvPr/>
        </p:nvSpPr>
        <p:spPr>
          <a:xfrm>
            <a:off x="1051560" y="315468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5156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38404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identities</a:t>
            </a:r>
            <a:endParaRPr lang="en-US" sz="1550" dirty="0"/>
          </a:p>
        </p:txBody>
      </p:sp>
      <p:sp>
        <p:nvSpPr>
          <p:cNvPr id="9" name="Text 6"/>
          <p:cNvSpPr txBox="1"/>
          <p:nvPr/>
        </p:nvSpPr>
        <p:spPr>
          <a:xfrm>
            <a:off x="1051560" y="420624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script creates your private CA, the server certificate and a certificate bundle per device.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434840" y="2880360"/>
            <a:ext cx="3429000" cy="2148840"/>
          </a:xfrm>
          <a:prstGeom prst="roundRect">
            <a:avLst>
              <a:gd name="adj" fmla="val 5957"/>
            </a:avLst>
          </a:prstGeom>
          <a:solidFill>
            <a:srgbClr val="283472"/>
          </a:solidFill>
          <a:ln/>
        </p:spPr>
      </p:sp>
      <p:sp>
        <p:nvSpPr>
          <p:cNvPr id="11" name="Shape 8"/>
          <p:cNvSpPr/>
          <p:nvPr/>
        </p:nvSpPr>
        <p:spPr>
          <a:xfrm>
            <a:off x="4709160" y="315468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70916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4709160" y="38404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gateway</a:t>
            </a:r>
            <a:endParaRPr lang="en-US" sz="1550" dirty="0"/>
          </a:p>
        </p:txBody>
      </p:sp>
      <p:sp>
        <p:nvSpPr>
          <p:cNvPr id="14" name="Text 11"/>
          <p:cNvSpPr txBox="1"/>
          <p:nvPr/>
        </p:nvSpPr>
        <p:spPr>
          <a:xfrm>
            <a:off x="4709160" y="420624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 — or a systemd unit, or a Worker deploy. Certificates mount read-only.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092440" y="2880360"/>
            <a:ext cx="3429000" cy="2148840"/>
          </a:xfrm>
          <a:prstGeom prst="roundRect">
            <a:avLst>
              <a:gd name="adj" fmla="val 5957"/>
            </a:avLst>
          </a:prstGeom>
          <a:solidFill>
            <a:srgbClr val="283472"/>
          </a:solidFill>
          <a:ln/>
        </p:spPr>
      </p:sp>
      <p:sp>
        <p:nvSpPr>
          <p:cNvPr id="16" name="Shape 13"/>
          <p:cNvSpPr/>
          <p:nvPr/>
        </p:nvSpPr>
        <p:spPr>
          <a:xfrm>
            <a:off x="8366760" y="315468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36676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8366760" y="38404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the app</a:t>
            </a:r>
            <a:endParaRPr lang="en-US" sz="1550" dirty="0"/>
          </a:p>
        </p:txBody>
      </p:sp>
      <p:sp>
        <p:nvSpPr>
          <p:cNvPr id="19" name="Text 16"/>
          <p:cNvSpPr txBox="1"/>
          <p:nvPr/>
        </p:nvSpPr>
        <p:spPr>
          <a:xfrm>
            <a:off x="8366760" y="420624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SDK baseURL, install the device certificate, ship.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777240" y="57607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ZeroVault  ·  the AI gateway with nothing to steal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2026-09-03T10:39:56Z</dcterms:created>
  <dcterms:modified xsi:type="dcterms:W3CDTF">2026-09-03T10:39:56Z</dcterms:modified>
</cp:coreProperties>
</file>